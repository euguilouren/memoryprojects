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08A3C"/>
                </a:solidFill>
                <a:latin typeface="Helvetica Neue"/>
              </a:rPr>
              <a:t>GUILHERME LOURENÇO AUDITORIA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Reforma Tributaria 2026 na pratica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C9CED6"/>
                </a:solidFill>
                <a:latin typeface="Helvetica Neue"/>
              </a:rPr>
              <a:t>A maior mudanca tributaria em decadas ja comecou - e parte das acoes e sua, ainda este ano. Para donos e gestores de PME: saia com uma lista do que fazer em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9CED6"/>
                </a:solidFill>
                <a:latin typeface="Helvetica Neue"/>
              </a:rPr>
              <a:t>Estudio de Apresentacoes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Cinco impostos viram dois: a conta fica mais simples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Helvetica Neue"/>
              </a:rPr>
              <a:t>A EC 132/2023 troca cinco tributos sobre consumo por um IVA dual (CBS + IBS), mais um Imposto Seletivo sobre o que faz mal a saude ou ao meio ambiente.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044287" cy="370332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587087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Georgia"/>
              </a:rPr>
              <a:t>Saem (5 tributos)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PIS e COFINS (federais)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IPI (reducao gradual)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ICMS (estadual)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ISS (municipal)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240280"/>
            <a:ext cx="5044287" cy="370332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2423160"/>
            <a:ext cx="4587087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8A3C"/>
                </a:solidFill>
                <a:latin typeface="Georgia"/>
              </a:rPr>
              <a:t>Entram (IVA dual + IS)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CBS - Contribuicao sobre Bens e Servicos (federal)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IBS - Imposto sobre Bens e Servicos (estados + municipios)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IS - Imposto Seletivo (sobre produtos nocivos)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Helvetica Neue"/>
              </a:rPr>
              <a:t>Menos guias, credito amplo (nao-cumulatividade plena) e imposto cobrado no destino. Fonte: reforma-tributaria.md (LC 214/2025 e LC 227/2026).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Nao e 2033: a Reforma ja entrou em vigor em janeiro de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Helvetica Neue"/>
              </a:rPr>
              <a:t>A transicao vai de 2026 a 2033, mas o relogio ja esta correndo - o sistema novo nao chega de uma vez, ele sobe em rampa.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46120"/>
            <a:ext cx="10545775" cy="36576"/>
          </a:xfrm>
          <a:prstGeom prst="rect">
            <a:avLst/>
          </a:prstGeom>
          <a:solidFill>
            <a:srgbClr val="345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3165" y="3136392"/>
            <a:ext cx="256032" cy="256032"/>
          </a:xfrm>
          <a:prstGeom prst="ellipse">
            <a:avLst/>
          </a:prstGeom>
          <a:solidFill>
            <a:srgbClr val="E08A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4535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Georgia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45356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D21"/>
                </a:solidFill>
                <a:latin typeface="Helvetica Neue"/>
              </a:rPr>
              <a:t>Fase de teste: CBS/IBS valem juridicamente, apuracao so informativa.</a:t>
            </a:r>
          </a:p>
        </p:txBody>
      </p:sp>
      <p:sp>
        <p:nvSpPr>
          <p:cNvPr id="9" name="Oval 8"/>
          <p:cNvSpPr/>
          <p:nvPr/>
        </p:nvSpPr>
        <p:spPr>
          <a:xfrm>
            <a:off x="4649609" y="3136392"/>
            <a:ext cx="256032" cy="256032"/>
          </a:xfrm>
          <a:prstGeom prst="ellipse">
            <a:avLst/>
          </a:prstGeom>
          <a:solidFill>
            <a:srgbClr val="E08A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0843" y="2468880"/>
            <a:ext cx="24535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Georgia"/>
              </a:rPr>
              <a:t>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843" y="3566160"/>
            <a:ext cx="245356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D21"/>
                </a:solidFill>
                <a:latin typeface="Helvetica Neue"/>
              </a:rPr>
              <a:t>PIS/COFINS extintos. CBS cheia. Imposto Seletivo entra.</a:t>
            </a:r>
          </a:p>
        </p:txBody>
      </p:sp>
      <p:sp>
        <p:nvSpPr>
          <p:cNvPr id="12" name="Oval 11"/>
          <p:cNvSpPr/>
          <p:nvPr/>
        </p:nvSpPr>
        <p:spPr>
          <a:xfrm>
            <a:off x="7286053" y="3136392"/>
            <a:ext cx="256032" cy="256032"/>
          </a:xfrm>
          <a:prstGeom prst="ellipse">
            <a:avLst/>
          </a:prstGeom>
          <a:solidFill>
            <a:srgbClr val="E08A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287" y="2468880"/>
            <a:ext cx="24535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Georgia"/>
              </a:rPr>
              <a:t>2029-32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3566160"/>
            <a:ext cx="245356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D21"/>
                </a:solidFill>
                <a:latin typeface="Helvetica Neue"/>
              </a:rPr>
              <a:t>ICMS e ISS reduzem em rampa (10% -&gt; 100%).</a:t>
            </a:r>
          </a:p>
        </p:txBody>
      </p:sp>
      <p:sp>
        <p:nvSpPr>
          <p:cNvPr id="15" name="Oval 14"/>
          <p:cNvSpPr/>
          <p:nvPr/>
        </p:nvSpPr>
        <p:spPr>
          <a:xfrm>
            <a:off x="9922497" y="3136392"/>
            <a:ext cx="256032" cy="256032"/>
          </a:xfrm>
          <a:prstGeom prst="ellipse">
            <a:avLst/>
          </a:prstGeom>
          <a:solidFill>
            <a:srgbClr val="E08A3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731" y="2468880"/>
            <a:ext cx="245356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5F"/>
                </a:solidFill>
                <a:latin typeface="Georgia"/>
              </a:rPr>
              <a:t>2033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731" y="3566160"/>
            <a:ext cx="2453563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D21"/>
                </a:solidFill>
                <a:latin typeface="Helvetica Neue"/>
              </a:rPr>
              <a:t>ICMS e ISS extintos. IBS pleno. Sistema novo 100%.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Helvetica Neue"/>
              </a:rPr>
              <a:t>Fonte: reforma-tributaria.md (cronograma de transicao, verificado 2026-06). Confirmar marcos na fonte oficial.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E08A3C"/>
                </a:solidFill>
                <a:latin typeface="Georgia"/>
              </a:rPr>
              <a:t>0,9% + 0,1%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F3A5F"/>
                </a:solidFill>
                <a:latin typeface="Helvetica Neue"/>
              </a:rPr>
              <a:t>Aliquota simbolica em 2026 (CBS 0,9% + IBS 0,1%): a apuracao e apenas informativa - nao ha recolhimento efetivo. Fonte: reforma-tributaria.md / Ato Conjunto RFB-CGIBS no 1/2025. Valor de referencia - confirmar na fonte oficial.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Pense nela como um lancamento por etapas: liga, observa e so depois cobra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Assim como um aplicativo novo entra primeiro para poucos e so vira padrao depois de testado, a Reforma separa 'esta valendo' de 'esta sendo cobrado'. As notas fiscais ja passam pelo sistema novo, mas o que sobe devagar nao e o imposto - e a consequencia.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2026 e o periodo de observar e ajustar com baixo custo. Quem usa a janela chega a cobranca com o erro corrigido; quem ignora, chega com o erro intacto.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Fonte: sintese lancar-uma-lei-como-um-deploy.md (a variavel que se rampa nao e o trafego - e a consequencia).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457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E08A3C"/>
                </a:solidFill>
                <a:latin typeface="Georgia"/>
              </a:rPr>
              <a:t>Sem multa ate ~ago/2026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F3A5F"/>
                </a:solidFill>
                <a:latin typeface="Helvetica Neue"/>
              </a:rPr>
              <a:t>Periodo educativo: errar o preenchimento dos campos novos da NF-e nao gera multa nesta janela. A RFB reafirmou (abr/2026) que nao aplica penalidade antes de 90 dias apos o regulamento. Fonte: reforma-tributaria.md. Confirmar a data-limite exata na fonte oficial.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Em 2027 a rede de protecao sai: PIS e COFINS acabam e a CBS fica cheia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Helvetica Neue"/>
              </a:rPr>
              <a:t>O custo de nao agir agora: em 2027 a janela fecha e a cobranca passa a valer de verdade.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044287" cy="370332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587087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Georgia"/>
              </a:rPr>
              <a:t>2026 (a janela)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Aliquota simbolica: 0,9% + 0,1%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Apuracao apenas informativa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Sem multa no periodo educativo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PIS/COFINS ainda em vigor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240280"/>
            <a:ext cx="5044287" cy="370332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2423160"/>
            <a:ext cx="4587087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8A3C"/>
                </a:solidFill>
                <a:latin typeface="Georgia"/>
              </a:rPr>
              <a:t>2027 (a cobranca)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PIS e COFINS extintos (1o/jan/2027)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CBS com aliquota cheia (~8,8%, valor de referencia)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Imposto Seletivo entra em vigor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Erro de preenchimento ja gera consequencia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Helvetica Neue"/>
              </a:rPr>
              <a:t>CBS ~8,8% e valor de referencia, a ser fixado pelo Senado ainda em 2026. Fonte: reforma-tributaria.md (linha 2027 do cronograma). Confirmar na fonte oficial.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A sua nota fiscal ja mudou: os campos novos sao obrigatorios hoje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2000" b="0">
                <a:solidFill>
                  <a:srgbClr val="E08A3C"/>
                </a:solidFill>
                <a:latin typeface="Helvetica Neue"/>
              </a:rPr>
              <a:t>▪  </a:t>
            </a:r>
            <a:r>
              <a:rPr sz="2000" b="0">
                <a:solidFill>
                  <a:srgbClr val="1A1D21"/>
                </a:solidFill>
                <a:latin typeface="Helvetica Neue"/>
              </a:rPr>
              <a:t>Desde jan/2026, a NF-e tem campos de CBS/IBS obrigatorios para empresas fora do Simples Nacional.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E08A3C"/>
                </a:solidFill>
                <a:latin typeface="Helvetica Neue"/>
              </a:rPr>
              <a:t>▪  </a:t>
            </a:r>
            <a:r>
              <a:rPr sz="2000" b="0">
                <a:solidFill>
                  <a:srgbClr val="1A1D21"/>
                </a:solidFill>
                <a:latin typeface="Helvetica Neue"/>
              </a:rPr>
              <a:t>A ausencia do preenchimento pode gerar rejeicao da nota - efeito imediato e operacional.</a:t>
            </a:r>
          </a:p>
          <a:p>
            <a:pPr>
              <a:spcBef>
                <a:spcPts val="1200"/>
              </a:spcBef>
            </a:pPr>
            <a:r>
              <a:rPr sz="2000" b="0">
                <a:solidFill>
                  <a:srgbClr val="E08A3C"/>
                </a:solidFill>
                <a:latin typeface="Helvetica Neue"/>
              </a:rPr>
              <a:t>▪  </a:t>
            </a:r>
            <a:r>
              <a:rPr sz="2000" b="0">
                <a:solidFill>
                  <a:srgbClr val="1A1D21"/>
                </a:solidFill>
                <a:latin typeface="Helvetica Neue"/>
              </a:rPr>
              <a:t>Quem precisa estar adequado e o emissor / ERP: e ajuste de sistema, nao so de contabilidade.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Helvetica Neue"/>
              </a:rPr>
              <a:t>Fonte: obrigacoes-acessorias.md (Atencao 2026); reforma-tributaria.md (impacto pratico).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No Simples Nacional puro? Em 2026 voce esta dispensado - mas a escolha chega em 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Helvetica Neue"/>
              </a:rPr>
              <a:t>Optante do Simples puro nao preenche CBS/IBS na NF-e em 2026. Mas em 2027 voce entra no sistema e escolhe entre dois caminhos.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5044287" cy="370332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23160"/>
            <a:ext cx="4587087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Georgia"/>
              </a:rPr>
              <a:t>Simples Unificado (padrao)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IBS e CBS dentro do DAS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Simplicidade mantida: uma guia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3E7CB1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Nao gera credito para o comprador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240280"/>
            <a:ext cx="5044287" cy="3703320"/>
          </a:xfrm>
          <a:prstGeom prst="roundRect">
            <a:avLst/>
          </a:prstGeom>
          <a:solidFill>
            <a:srgbClr val="EEF1F5"/>
          </a:solidFill>
          <a:ln w="12700">
            <a:solidFill>
              <a:srgbClr val="E0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2423160"/>
            <a:ext cx="4587087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08A3C"/>
                </a:solidFill>
                <a:latin typeface="Georgia"/>
              </a:rPr>
              <a:t>Simples Hibrido (opcional)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IBS e CBS apurados 'por fora' do DAS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Mais passos, regime regular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E08A3C"/>
                </a:solidFill>
                <a:latin typeface="Helvetica Neue"/>
              </a:rPr>
              <a:t>•  </a:t>
            </a:r>
            <a:r>
              <a:rPr sz="1500" b="0">
                <a:solidFill>
                  <a:srgbClr val="1A1D21"/>
                </a:solidFill>
                <a:latin typeface="Helvetica Neue"/>
              </a:rPr>
              <a:t>Gera credito ao cliente - bom se seus clientes sao PJ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Helvetica Neue"/>
              </a:rPr>
              <a:t>Decisao para 2027, aguardando regulamentacao. Fonte: simples-nacional.md (Reforma; regime hibrido). Validar com contador qual caminho serve ao seu caso.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Faca isto ainda em 2026: quatro acoes que dependem de voce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Helvetica Neue"/>
              </a:rPr>
              <a:t>O nucleo da acao: estas quatro nao sao do seu contador - sao suas, e cabem na janela barata de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45775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900" b="1">
                <a:solidFill>
                  <a:srgbClr val="E08A3C"/>
                </a:solidFill>
                <a:latin typeface="Georgia"/>
              </a:rPr>
              <a:t>1.  </a:t>
            </a:r>
            <a:r>
              <a:rPr sz="1900" b="0">
                <a:solidFill>
                  <a:srgbClr val="1A1D21"/>
                </a:solidFill>
                <a:latin typeface="Helvetica Neue"/>
              </a:rPr>
              <a:t>Adequar o emissor de NF-e / ERP aos campos obrigatorios de CBS/IBS.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E08A3C"/>
                </a:solidFill>
                <a:latin typeface="Georgia"/>
              </a:rPr>
              <a:t>2.  </a:t>
            </a:r>
            <a:r>
              <a:rPr sz="1900" b="0">
                <a:solidFill>
                  <a:srgbClr val="1A1D21"/>
                </a:solidFill>
                <a:latin typeface="Helvetica Neue"/>
              </a:rPr>
              <a:t>Revisar o cadastro de produtos e a classificacao fiscal / CNAE.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E08A3C"/>
                </a:solidFill>
                <a:latin typeface="Georgia"/>
              </a:rPr>
              <a:t>3.  </a:t>
            </a:r>
            <a:r>
              <a:rPr sz="1900" b="0">
                <a:solidFill>
                  <a:srgbClr val="1A1D21"/>
                </a:solidFill>
                <a:latin typeface="Helvetica Neue"/>
              </a:rPr>
              <a:t>Mapear creditos de PIS/COFINS a aproveitar antes da extincao em 2027.</a:t>
            </a:r>
          </a:p>
          <a:p>
            <a:pPr>
              <a:spcBef>
                <a:spcPts val="1400"/>
              </a:spcBef>
            </a:pPr>
            <a:r>
              <a:rPr sz="1900" b="1">
                <a:solidFill>
                  <a:srgbClr val="E08A3C"/>
                </a:solidFill>
                <a:latin typeface="Georgia"/>
              </a:rPr>
              <a:t>4.  </a:t>
            </a:r>
            <a:r>
              <a:rPr sz="1900" b="0">
                <a:solidFill>
                  <a:srgbClr val="1A1D21"/>
                </a:solidFill>
                <a:latin typeface="Helvetica Neue"/>
              </a:rPr>
              <a:t>Conversar com o contador sobre regime e precificacao (e, no Simples, sobre o hibrido).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807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Helvetica Neue"/>
              </a:rPr>
              <a:t>Fonte: reforma-tributaria.md (Impacto pratico - o que fazer em 2026).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A janela e curta: comece pela nota fiscal e pelos creditos de PIS/COFINS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Se nao da para fazer tudo de uma vez, priorize o que tem prazo e o que se perde: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1. Nota fiscal - tem efeito imediato: a falta dos campos novos pode rejeitar a nota ja hoje.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2. Creditos de PIS/COFINS - e dinheiro que evapora apos a extincao em 2027. Mapeie antes que a porta feche.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As demais acoes (cadastro, regime) vem na sequencia, mas estas duas sao as que doem se ficarem para depois.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Fonte: reforma-tributaria.md (impacto pratico; cronograma 2027); obrigacoes-acessorias.md (rejeicao de NF-e).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Georgia"/>
              </a:rPr>
              <a:t>O recado: aja em 2026 e leve estas perguntas ao seu contador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280160" cy="45720"/>
          </a:xfrm>
          <a:prstGeom prst="rect">
            <a:avLst/>
          </a:prstGeom>
          <a:solidFill>
            <a:srgbClr val="E0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Em 2026 voce ainda erra de graca; em 2027, nao. A janela existe - mas e curta, e a rede de protecao sai.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Tres perguntas para levar ao seu contador esta semana: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1. Meu emissor de NF-e ja esta adequado aos campos de CBS/IBS?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2. Tenho creditos de PIS/COFINS a aproveitar antes de 2027?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3. No meu caso, qual regime e estrategia de precificacao para 2027 (e, no Simples, unificado ou hibrido)?</a:t>
            </a:r>
          </a:p>
          <a:p>
            <a:pPr>
              <a:spcBef>
                <a:spcPts val="1000"/>
              </a:spcBef>
            </a:pPr>
            <a:r>
              <a:rPr sz="1800" b="0">
                <a:solidFill>
                  <a:srgbClr val="1A1D21"/>
                </a:solidFill>
                <a:latin typeface="Helvetica Neue"/>
              </a:rPr>
              <a:t>Orientacao educativa - valide tudo com seu contador. Fonte: reforma-tributaria.md; sintese lancar-uma-lei-como-um-deploy.md.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46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C9CED6"/>
                </a:solidFill>
                <a:latin typeface="Helvetica Neue"/>
              </a:rPr>
              <a:t>Guilherme Lourenço Auditoria - documento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